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PQSxVUkUZZ1U1dQD6cVfqUVcP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mc:AlternateContent>
    <mc:Choice Requires="p14">
      <p:transition spd="slow" p14:dur="25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A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5A7ACD">
                <a:alpha val="30196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>
            <a:off x="0" y="11887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5A7ACD">
                <a:alpha val="30196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0" y="19202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5A7ACD">
                <a:alpha val="30196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0" y="26517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5A7ACD">
                <a:alpha val="30196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0" y="33832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5A7ACD">
                <a:alpha val="30196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5A7ACD">
                <a:alpha val="30196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EB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HIGH ALTITUDE LONG ENDURANCE (HALE) UAVs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14400" y="25146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6E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6E6"/>
                </a:solidFill>
                <a:latin typeface="Calibri"/>
                <a:ea typeface="Calibri"/>
                <a:cs typeface="Calibri"/>
                <a:sym typeface="Calibri"/>
              </a:rPr>
              <a:t>Sustainable Flight Through Integrated Solar, Propulsion and Atmospheric Simulation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Parth Patil (22BTRAS031)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Guide: Dr Amalesh Barai, JAIN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457240" y="914338"/>
            <a:ext cx="4023300" cy="3840600"/>
          </a:xfrm>
          <a:prstGeom prst="rect">
            <a:avLst/>
          </a:prstGeom>
          <a:noFill/>
          <a:ln cap="flat" cmpd="sng" w="25400">
            <a:solidFill>
              <a:srgbClr val="5A7A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Introduction to HALE UAVs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10058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Key Capabilities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Altitude: 18+ km in stratosphere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Endurance: Days to weeks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Zephyr S achieved 64-day record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Persistent surveillance capability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LEO communication relay role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5A7A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Notable Platforms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46320" y="1463040"/>
            <a:ext cx="3657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NASA Helios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730 kg | 75 m span | AR 30.9</a:t>
            </a:r>
            <a:b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Airbus Zephyr 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53 kg | 25 m span | AR 24</a:t>
            </a:r>
            <a:b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KARI EAV-3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sz="18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53 kg | 19.5 m span | AR 17.4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The Core Engineering Challenge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FEB05D">
              <a:alpha val="90196"/>
            </a:srgbClr>
          </a:solidFill>
          <a:ln cap="flat" cmpd="sng" w="25400">
            <a:solidFill>
              <a:srgbClr val="FEB0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Energy Balance: Solar power collected during day must sustain entire 24-hour cycle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19202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BATTERY SOLUTION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2194560"/>
            <a:ext cx="4023360" cy="24688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EB0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40080" y="237744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Night Storage: 24 kWh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Required Mass: ~95 kg</a:t>
            </a:r>
            <a:b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Density: 250 Wh/kg</a:t>
            </a:r>
            <a:b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1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Status: </a:t>
            </a:r>
            <a:r>
              <a:rPr b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Exceeds feasible weight</a:t>
            </a:r>
            <a:br>
              <a:rPr b="0" i="1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Impact: Design not practical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663440" y="19202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HYDROGEN FUEL CELL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663440" y="2194560"/>
            <a:ext cx="4023360" cy="24688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5A7A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846320" y="237744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Night Storage: 24 kWh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Required Mass: ~4.3 kg</a:t>
            </a:r>
            <a:b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Energy Density: 265 Wh/kg</a:t>
            </a:r>
            <a:b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1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Status: </a:t>
            </a:r>
            <a:r>
              <a:rPr b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Practical &amp; viable</a:t>
            </a:r>
            <a:br>
              <a:rPr b="0" i="1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Impact: Dramatic mass reduction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Project Objectives &amp; Scope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8628" y="1280155"/>
            <a:ext cx="320100" cy="320100"/>
          </a:xfrm>
          <a:prstGeom prst="ellipse">
            <a:avLst/>
          </a:prstGeom>
          <a:solidFill>
            <a:srgbClr val="FEB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48603" y="128013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005840" y="1078992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Solar Irradiance Modeling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05840" y="1353312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24-hour prediction with cloud cover dynamics (kc = 0.0–1.0)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8640" y="2377443"/>
            <a:ext cx="320100" cy="320100"/>
          </a:xfrm>
          <a:prstGeom prst="ellipse">
            <a:avLst/>
          </a:prstGeom>
          <a:solidFill>
            <a:srgbClr val="5A7A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48628" y="2377443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005840" y="2221992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Propulsion Optimization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05840" y="2496312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Mission-based motor-propeller selection using Dantsker methodology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8665" y="3474755"/>
            <a:ext cx="320100" cy="320100"/>
          </a:xfrm>
          <a:prstGeom prst="ellipse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48678" y="3474755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05840" y="3364992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Atmospheric Simulation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005840" y="3639312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ISA implementation with energy balance validation at 20 km altitude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Literature Survey: HALE Platform Configurations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468880" y="1005840"/>
            <a:ext cx="1371600" cy="27432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023360" y="1005840"/>
            <a:ext cx="1371600" cy="27432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Wingspan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577840" y="1005840"/>
            <a:ext cx="1280160" cy="27432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Aspect Ratio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040880" y="1005840"/>
            <a:ext cx="1645920" cy="27432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Endurance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8640" y="1325880"/>
            <a:ext cx="8138160" cy="576072"/>
          </a:xfrm>
          <a:prstGeom prst="rect">
            <a:avLst/>
          </a:prstGeom>
          <a:solidFill>
            <a:srgbClr val="FFF8F5"/>
          </a:solidFill>
          <a:ln cap="flat" cmpd="sng" w="12700">
            <a:solidFill>
              <a:srgbClr val="E8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85800" y="1417320"/>
            <a:ext cx="1645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Zephyr 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560320" y="1417320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53 kg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114800" y="1417320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25 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669280" y="1417320"/>
            <a:ext cx="10972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132320" y="1417320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25+ days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1920240"/>
            <a:ext cx="8138160" cy="576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85800" y="2011680"/>
            <a:ext cx="1645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NASA Helios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560320" y="2011680"/>
            <a:ext cx="1188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730 kg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114800" y="2011680"/>
            <a:ext cx="1188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75 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669280" y="2011680"/>
            <a:ext cx="1097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30.9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132320" y="2011680"/>
            <a:ext cx="1554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14+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8640" y="2514600"/>
            <a:ext cx="8138160" cy="576072"/>
          </a:xfrm>
          <a:prstGeom prst="rect">
            <a:avLst/>
          </a:prstGeom>
          <a:solidFill>
            <a:srgbClr val="FFF8F5"/>
          </a:solidFill>
          <a:ln cap="flat" cmpd="sng" w="12700">
            <a:solidFill>
              <a:srgbClr val="E8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85800" y="2606040"/>
            <a:ext cx="1645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KARI EAV-3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560320" y="2606040"/>
            <a:ext cx="1188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53 kg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114800" y="2606040"/>
            <a:ext cx="1188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19.5 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669280" y="2606040"/>
            <a:ext cx="1097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17.4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132320" y="2606040"/>
            <a:ext cx="1554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Stratospheric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48640" y="3108960"/>
            <a:ext cx="8138160" cy="57607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EB0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85800" y="3200400"/>
            <a:ext cx="1645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Present Design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560320" y="3200400"/>
            <a:ext cx="1188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~114 kg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114800" y="3200400"/>
            <a:ext cx="1188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32 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669280" y="3200400"/>
            <a:ext cx="1097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~30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132320" y="3200400"/>
            <a:ext cx="1554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Target: 24+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Computational Methodology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50" y="84585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Integration Pipeline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8640" y="1280160"/>
            <a:ext cx="1463040" cy="502920"/>
          </a:xfrm>
          <a:prstGeom prst="rect">
            <a:avLst/>
          </a:prstGeom>
          <a:solidFill>
            <a:srgbClr val="FEB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548640" y="12801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Atmosphere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029968" y="141732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286000" y="1280160"/>
            <a:ext cx="1463040" cy="502920"/>
          </a:xfrm>
          <a:prstGeom prst="rect">
            <a:avLst/>
          </a:prstGeom>
          <a:solidFill>
            <a:srgbClr val="5A7A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2286000" y="12801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Irradiance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023360" y="1280160"/>
            <a:ext cx="1463040" cy="502920"/>
          </a:xfrm>
          <a:prstGeom prst="rect">
            <a:avLst/>
          </a:prstGeom>
          <a:solidFill>
            <a:srgbClr val="FEB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023360" y="12801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Aerodynamics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760720" y="1280160"/>
            <a:ext cx="1463040" cy="502920"/>
          </a:xfrm>
          <a:prstGeom prst="rect">
            <a:avLst/>
          </a:prstGeom>
          <a:solidFill>
            <a:srgbClr val="5A7A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760720" y="12801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Propulsion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498080" y="1280160"/>
            <a:ext cx="1463040" cy="502920"/>
          </a:xfrm>
          <a:prstGeom prst="rect">
            <a:avLst/>
          </a:prstGeom>
          <a:solidFill>
            <a:srgbClr val="FEB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7498080" y="12801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48650" y="2011671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Implemented Subsystems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233172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Solar Irradiance: </a:t>
            </a:r>
            <a:br>
              <a:rPr b="0" i="0" lang="en-US" sz="2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	24-hour continuous simulation with cloud cover parameter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Propulsion: </a:t>
            </a:r>
            <a:br>
              <a:rPr b="1" i="0" lang="en-US" sz="2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	Mission-based motor-propeller selection using Dantsker methodology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Atmospheric: </a:t>
            </a:r>
            <a:endParaRPr b="1" i="0" sz="2000" u="none" cap="none" strike="noStrike">
              <a:solidFill>
                <a:srgbClr val="2B2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ISA implementation with mission profile integration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6"/>
          <p:cNvCxnSpPr>
            <a:stCxn id="119" idx="3"/>
            <a:endCxn id="122" idx="1"/>
          </p:cNvCxnSpPr>
          <p:nvPr/>
        </p:nvCxnSpPr>
        <p:spPr>
          <a:xfrm>
            <a:off x="2011680" y="1531620"/>
            <a:ext cx="27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6"/>
          <p:cNvCxnSpPr>
            <a:stCxn id="122" idx="3"/>
            <a:endCxn id="124" idx="1"/>
          </p:cNvCxnSpPr>
          <p:nvPr/>
        </p:nvCxnSpPr>
        <p:spPr>
          <a:xfrm>
            <a:off x="3749040" y="1531620"/>
            <a:ext cx="27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6"/>
          <p:cNvCxnSpPr>
            <a:stCxn id="124" idx="3"/>
            <a:endCxn id="126" idx="1"/>
          </p:cNvCxnSpPr>
          <p:nvPr/>
        </p:nvCxnSpPr>
        <p:spPr>
          <a:xfrm>
            <a:off x="5486400" y="1531620"/>
            <a:ext cx="27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6"/>
          <p:cNvCxnSpPr>
            <a:stCxn id="126" idx="3"/>
            <a:endCxn id="128" idx="1"/>
          </p:cNvCxnSpPr>
          <p:nvPr/>
        </p:nvCxnSpPr>
        <p:spPr>
          <a:xfrm>
            <a:off x="7223760" y="1531620"/>
            <a:ext cx="27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Propulsion Optimization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914400"/>
            <a:ext cx="3931920" cy="1828800"/>
          </a:xfrm>
          <a:prstGeom prst="rect">
            <a:avLst/>
          </a:prstGeom>
          <a:solidFill>
            <a:srgbClr val="FEB05D">
              <a:alpha val="90196"/>
            </a:srgbClr>
          </a:solidFill>
          <a:ln cap="flat" cmpd="sng" w="25400">
            <a:solidFill>
              <a:srgbClr val="FEB0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731525" y="1051543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Reduction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31520" y="13716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22.6%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31520" y="19659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1994 W → 1543 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Cruise power reduction directly reduces storage requirements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5A7ACD">
              <a:alpha val="90196"/>
            </a:srgbClr>
          </a:solidFill>
          <a:ln cap="flat" cmpd="sng" w="25400">
            <a:solidFill>
              <a:srgbClr val="5A7A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937750" y="1051544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Margin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937760" y="13716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208.1%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937760" y="19659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27,893 Wh surplus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Total Solar: 41,297 Wh | Daylight: 14.4 hours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8640" y="2926080"/>
            <a:ext cx="8229600" cy="1463040"/>
          </a:xfrm>
          <a:prstGeom prst="rect">
            <a:avLst/>
          </a:prstGeom>
          <a:solidFill>
            <a:srgbClr val="2B2A2A">
              <a:alpha val="94901"/>
            </a:srgbClr>
          </a:solidFill>
          <a:ln cap="flat" cmpd="sng" w="12700">
            <a:solidFill>
              <a:srgbClr val="2B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31520" y="30632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Optimal Configuration: HALE-Direct D80 motor + HALE-M 72×40 propeller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914400" y="3429000"/>
            <a:ext cx="7498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Efficiency: 58.6%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Validated across mission profile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Reduces night-time storage demand from estimated 24 kWh baseline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Aerodynamic Performance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solidFill>
            <a:srgbClr val="5A7ACD">
              <a:alpha val="90196"/>
            </a:srgbClr>
          </a:solidFill>
          <a:ln cap="flat" cmpd="sng" w="25400">
            <a:solidFill>
              <a:srgbClr val="5A7A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31520" y="10058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Lift-to-Drag Ratio (L/D) at 20 km Altitude: 17.2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48640" y="1828800"/>
            <a:ext cx="3931920" cy="685800"/>
          </a:xfrm>
          <a:prstGeom prst="rect">
            <a:avLst/>
          </a:prstGeom>
          <a:solidFill>
            <a:srgbClr val="FFF8F5"/>
          </a:solidFill>
          <a:ln cap="flat" cmpd="sng" w="12700">
            <a:solidFill>
              <a:srgbClr val="E8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31520" y="18745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Altitude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31520" y="2148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20 km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846320" y="1828800"/>
            <a:ext cx="3931920" cy="685800"/>
          </a:xfrm>
          <a:prstGeom prst="rect">
            <a:avLst/>
          </a:prstGeom>
          <a:solidFill>
            <a:srgbClr val="F5F2F2"/>
          </a:solidFill>
          <a:ln cap="flat" cmpd="sng" w="12700">
            <a:solidFill>
              <a:srgbClr val="E8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029200" y="18745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Air Density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0" y="2148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0.088 kg/m³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48640" y="2651760"/>
            <a:ext cx="3931920" cy="685800"/>
          </a:xfrm>
          <a:prstGeom prst="rect">
            <a:avLst/>
          </a:prstGeom>
          <a:solidFill>
            <a:srgbClr val="FFF8F5"/>
          </a:solidFill>
          <a:ln cap="flat" cmpd="sng" w="12700">
            <a:solidFill>
              <a:srgbClr val="E8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731520" y="26974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Aspect Ratio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31520" y="2971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~30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846320" y="2651760"/>
            <a:ext cx="3931920" cy="685800"/>
          </a:xfrm>
          <a:prstGeom prst="rect">
            <a:avLst/>
          </a:prstGeom>
          <a:solidFill>
            <a:srgbClr val="F5F2F2"/>
          </a:solidFill>
          <a:ln cap="flat" cmpd="sng" w="12700">
            <a:solidFill>
              <a:srgbClr val="E8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029200" y="26974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Cruise Speed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029200" y="2971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~12 m/s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35661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Design Considerations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48640" y="38862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High aspect ratio wings minimize induced drag at low speed and altitude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Required L/D of 25–30 achieved through composite wing structure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Aeroelastic coupling critical for 32 m flexible wing design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Stratospheric air density (0.088 kg/m³) requires extreme efficiency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Energy Storage &amp; Solar Technologies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48640" y="914400"/>
            <a:ext cx="3931920" cy="3657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EB0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731520" y="1051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Solar Cell Technology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31520" y="1371600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Triple-Junction GaAs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25–30% Efficiency</a:t>
            </a: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Current Standard for HALE</a:t>
            </a: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Emerging: Perovskite (2024)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44,000 W/kg specific power</a:t>
            </a: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20.1% efficiency</a:t>
            </a: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Transformative potential if manufacturing matures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5A7A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937760" y="1051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Energy Storage Thresholds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937760" y="1371600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Fuel Cells Preferred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Above 2.8 kWh demand</a:t>
            </a: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Lithium-Sulfur (Next Gen)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300–350 Wh/kg</a:t>
            </a: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Commercial adoption 2025+</a:t>
            </a: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Record: Zephyr 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64-day continuous flight</a:t>
            </a:r>
            <a:br>
              <a:rPr b="0" i="0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Hybrid battery + fuel cell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Key Findings &amp; Conclusions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960120" y="1097280"/>
            <a:ext cx="7818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Technical Feasibility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960120" y="1202450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Confirmed through implemented computational models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960120" y="1965960"/>
            <a:ext cx="781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Power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960120" y="2071105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22.6% reduction achieved via propulsion optimization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960120" y="2834640"/>
            <a:ext cx="7818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Energy Margin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60057" y="2939747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208.1% surplus enables perpetual endurance capability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60120" y="3703320"/>
            <a:ext cx="7818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545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E89545"/>
                </a:solidFill>
                <a:latin typeface="Calibri"/>
                <a:ea typeface="Calibri"/>
                <a:cs typeface="Calibri"/>
                <a:sym typeface="Calibri"/>
              </a:rPr>
              <a:t>Storage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59982" y="3808402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Hybrid fuel cell + battery essential for practical multi-day endurance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Recommendations for 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48640" y="100584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Multi-point optimization:</a:t>
            </a:r>
            <a: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	Extend beyond cruise to climb, descent, loiter segments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High-fidelity CFD: </a:t>
            </a:r>
            <a:b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	Validation under low-Reynolds-number conditions (Re = 3×10⁵)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Aeroelastic analysis: </a:t>
            </a:r>
            <a:b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	Flutter analysis for 32 m flexible wings using advanced methods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Thermal modeling: </a:t>
            </a:r>
            <a:b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	Battery/avionics performance at stratospheric temperatures (−60°C)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Flight validation: </a:t>
            </a:r>
            <a:b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	Scaled demonstrator fabrication and altitude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Emerging technologies: </a:t>
            </a:r>
            <a:b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	Perovskite solar cells, solid-state batteries, supercapacitors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A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EB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731520" y="73152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B05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EB05D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731520" y="1463040"/>
            <a:ext cx="7955280" cy="2103120"/>
          </a:xfrm>
          <a:prstGeom prst="rect">
            <a:avLst/>
          </a:prstGeom>
          <a:solidFill>
            <a:srgbClr val="FEB05D">
              <a:alpha val="92156"/>
            </a:srgbClr>
          </a:solidFill>
          <a:ln cap="flat" cmpd="sng" w="25400">
            <a:solidFill>
              <a:srgbClr val="FEB0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005840" y="1645920"/>
            <a:ext cx="7406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6E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E6E6"/>
                </a:solidFill>
                <a:latin typeface="Calibri"/>
                <a:ea typeface="Calibri"/>
                <a:cs typeface="Calibri"/>
                <a:sym typeface="Calibri"/>
              </a:rPr>
              <a:t>Solar-powered HALE UAVs are technically feasible through integrated computational modeling. Strategic propulsion optimization and hybrid energy storage enable perpetual endurance capability.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F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/>
          <p:nvPr/>
        </p:nvSpPr>
        <p:spPr>
          <a:xfrm>
            <a:off x="1371600" y="457200"/>
            <a:ext cx="6400800" cy="4229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A7A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13"/>
          <p:cNvCxnSpPr/>
          <p:nvPr/>
        </p:nvCxnSpPr>
        <p:spPr>
          <a:xfrm>
            <a:off x="1371600" y="457200"/>
            <a:ext cx="0" cy="4229100"/>
          </a:xfrm>
          <a:prstGeom prst="straightConnector1">
            <a:avLst/>
          </a:prstGeom>
          <a:noFill/>
          <a:ln cap="flat" cmpd="sng" w="12700">
            <a:solidFill>
              <a:srgbClr val="E8E6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13"/>
          <p:cNvCxnSpPr/>
          <p:nvPr/>
        </p:nvCxnSpPr>
        <p:spPr>
          <a:xfrm>
            <a:off x="3502152" y="457200"/>
            <a:ext cx="0" cy="4229100"/>
          </a:xfrm>
          <a:prstGeom prst="straightConnector1">
            <a:avLst/>
          </a:prstGeom>
          <a:noFill/>
          <a:ln cap="flat" cmpd="sng" w="12700">
            <a:solidFill>
              <a:srgbClr val="E8E6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13"/>
          <p:cNvCxnSpPr/>
          <p:nvPr/>
        </p:nvCxnSpPr>
        <p:spPr>
          <a:xfrm>
            <a:off x="5632704" y="457200"/>
            <a:ext cx="0" cy="4229100"/>
          </a:xfrm>
          <a:prstGeom prst="straightConnector1">
            <a:avLst/>
          </a:prstGeom>
          <a:noFill/>
          <a:ln cap="flat" cmpd="sng" w="12700">
            <a:solidFill>
              <a:srgbClr val="E8E6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13"/>
          <p:cNvCxnSpPr/>
          <p:nvPr/>
        </p:nvCxnSpPr>
        <p:spPr>
          <a:xfrm>
            <a:off x="7763256" y="457200"/>
            <a:ext cx="0" cy="4229100"/>
          </a:xfrm>
          <a:prstGeom prst="straightConnector1">
            <a:avLst/>
          </a:prstGeom>
          <a:noFill/>
          <a:ln cap="flat" cmpd="sng" w="12700">
            <a:solidFill>
              <a:srgbClr val="E8E6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3"/>
          <p:cNvSpPr/>
          <p:nvPr/>
        </p:nvSpPr>
        <p:spPr>
          <a:xfrm>
            <a:off x="1828800" y="164592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A2A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2B2A2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Parth Patil (22BTRAS031)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Department of Aerospace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JAIN University, Bangalore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CD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A7ACD"/>
                </a:solidFill>
                <a:latin typeface="Calibri"/>
                <a:ea typeface="Calibri"/>
                <a:cs typeface="Calibri"/>
                <a:sym typeface="Calibri"/>
              </a:rPr>
              <a:t>Guide: Dr Amalesh Barai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2026-04-09T05:42:04Z</dcterms:created>
  <dc:creator>Parth Patil</dc:creator>
</cp:coreProperties>
</file>