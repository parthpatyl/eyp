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rth/.gemini/antigravity/brain/8524501f-0042-4846-81e9-59983921b241/hale_uav_title_1771364812240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9144000" cy="73152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ALTITUDE LONG ENDURANCE (HALE) UNMANNED AERIAL VEHICLES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Flight Through Renewable Energy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Patil (22BTRAS031)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 Amalesh Barai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Aerospace Engineering, JAIN (Deemed-to-be University)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Motivation &amp; Aims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Existing HALE UAVs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Requirements &amp; Constraints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 Overview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Aerodynamic, Propulsion &amp; Structural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&amp; Results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Stability, Trade-offs &amp;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Motivation &amp; Aims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HALE UAV? [1][2]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Bridge gap between conventional aircraft and satellites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Operate at altitudes above 18 km for days/weeks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persistent surveillance &amp; communication relay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reliance on expensive satellite infrastructure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Aim [1-4]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Conceive, analyse, and assess a theoretically sound solar-powered HALE UAV achieving multi-week endurance with payload versatility and operational reliability.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841248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Continuous flight above 18 km for minimum 24 hours, with ambition for several days [1][2]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comprehensive conceptual design satisfying mission endurance, payload, and safety requirements [1-4]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existing solar UAVs: aerodynamic configs, materials, energy storage [1-4][39-44]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Limitations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3774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energy-storage limits, low-Re aerodynamics, structural/fatigue constraints [8-15]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0175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endurance, energy budgets, and mission reliability via simulation [5-7]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Improvements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65760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modifications: propulsion optimisation, aeroelastic analysis [42][44]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109728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Integration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60320" y="42976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renewable energy impact on endurance and reliability [39][43][45]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Key Existing HALE UAVs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56032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(kg)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Wingspan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Zephyr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25+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14+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EAV-3 (KARI)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Stratospheric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AtlantikSolar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[39]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~114*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24+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*Structural estimate derived from energy feasibility analysis. Not MTOW.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[1-3][14][39]: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High-aspect-ratio monoplane configurations dominate (AR 17.4 to 30+)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Triple-junction GaAs cells achieve 25–30% efficiency — practical upper bound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Requirements &amp; Constraints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Requirements [1][2]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Altitude: 18–22 km (stratospheric)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Endurance: Minimum 24 hours (target: multi-day)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Cruise speed: ~80 km/h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Payload: 5-10 kg for instruments &amp; comms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Constraints [6-29]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Reynolds number flows (10⁵–10⁶)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Structural stiffness for flutter avoidance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storage for night-time operation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Environmental: cloud, wind shear, temperature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520440"/>
            <a:ext cx="265176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Lift-to-Drag Ratio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520440"/>
            <a:ext cx="265176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&gt;18 km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Ceiling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520440"/>
            <a:ext cx="2651760" cy="1005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&gt;24 hrs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35040" y="4114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4" name="Image 0" descr="/home/prth/.gemini/antigravity/brain/8524501f-0042-4846-81e9-59983921b241/hale_uav_blueprint_17713648316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39319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Design Approach [1-4]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1371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High-aspect-ratio monoplane configuration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Solar cells on wing &amp; fuselage surfaces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energy: solar + batteries + fuel cell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CFRP composite ultra-lightweight structure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Distributed propulsion system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Choice [1][18-20]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54880" y="3291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Monoplane with high aspect ratio selected over biplane, BWB, and joined-wing based on manufacturing simplicity and proven technology readiness.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3291840"/>
            <a:ext cx="411480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Design Parameters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749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Wingspan: 32 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Ratio: ~30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Est: ~114 kg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5-10 kg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Geometry [6][7][40]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Wingspan: 32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Aspect Ratio: ~30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Low-Reynolds-number airfoil selection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High-lift, low-drag optimization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Considerations [5-7]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Re flows (10⁵–10⁶): viscous effects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L/D: 25-30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Minimise induced drag with high 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CFD + analytical methods for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Comparison [1][18-20]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71800"/>
          <a:ext cx="41148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Monoplane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proven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 deflection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Biplane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Interference drag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L/D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Joined-wing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eff 1.4-1.5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Struct.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754880" y="2926080"/>
            <a:ext cx="3931920" cy="1097280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30175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475488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[40]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 &amp; Energy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4" name="Image 0" descr="/home/prth/.gemini/antigravity/brain/8524501f-0042-4846-81e9-59983921b241/hale_uav_cutaway_17713648479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05840"/>
            <a:ext cx="393192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Energy Architecture [10][14]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411480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(Day)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kW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Triple-junction GaAs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25-30% efficiency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377440"/>
            <a:ext cx="411480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(Night)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2608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kWh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+ Fuel Cell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383280"/>
            <a:ext cx="411480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Power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92608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kW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demand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488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for Hydrogen Fuel Cell [10][39]: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54880" y="3794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Night requirement (~24 kWh) requires ~95kg of batteries.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H2 System: ~1.44kg H2 + Tank + BOP ≈ 4.3kg.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Massive weight saving enables multi-day endurance.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Selection: CFRP Composites [8][9]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Carbon-fibre reinforced polymers (T-800/T-300)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stiffness-to-weight ratio (5x 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Anisotropic tailoring for load paths (bending/torsion)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Analysis [5][22][44]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ANSYS Workbench for FEA (large-displacement)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deflection: tip deflection 10-15% of semi-span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Aeroelastic coupling analysis (Murua et al.)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Breakdown (Component Level) [40]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164592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(kg)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CFRP primary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GaAs arrays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cell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Avionics/Payld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(MTOW)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Estim. w/ Payload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011680" cy="1188720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&gt;24 hrs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2011680" cy="11887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 km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01168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L/D Ratio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2011680" cy="11887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km/h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Speed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Results [10][15][42]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Cruise power: ~2 kW electrical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Solar power available: ~9 kW (stratospheric irradiance 1360 W/m²)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Night-time energy storage: ~23.9 kWh for 12-hr dark period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Altitude power penalty: ~3.5% per km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Propulsion optimisation potential: 19% efficiency improvement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&amp;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Analysis [12][13][40]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Longitudinal &amp; directional stability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margin: min 5% MAC (EAV-3 ref: 28.4%)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CG remains stable (no fuel burn shift)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Surfaces [27]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Conventional tail (elevator, rudder)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Ailerons for roll control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Larger deflections required at low air density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Redundant actuator 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Analysis [22][44]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High-aspect-ratio flexible wings introduce aeroelastic coupling. Conventional doublet-lattice methods insufficient. Used Murua et al. methodology: geometrically exact beam FE + Unsteady Vortex Lattice Method (UVLM) for accurate flutter boundary prediction.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Trade-offs &amp;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18288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Ratio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Mfg vs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compromise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cell &gt; 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vs 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95kg vs 4.3kg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Monoplane 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 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GaAs cells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vs 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Optimum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108960"/>
            <a:ext cx="8412480" cy="1188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Trade-off: Battery vs Fuel Cell [10][39]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5661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storage of ~23.9 kWh makes pure lithium-ion solution infeasible: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mass: ~95.7 kg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Hydrogen system: ~4.3 kg total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Fuel cell selected for multi-day endurance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7432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Wingspan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range [40]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MTOW (Comp.)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~57-62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&gt;24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Achievable [39]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18-22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Stratospheric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L/D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met [40]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~23.9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Cell Used [10]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Cell Mass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~4.3 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95kg Battery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~114 kg energy feasibility mass includes margin for battery trade-study. Component build-up (~62kg) reflects operational weight.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Conceptually (Green)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Energy balance closure verified [39]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Power realistic (~2 kW) [10]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Solar power adequate (~9 kW) [14]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Fuel cell mass savings confirmed [10]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L/D targets achievable [40]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(Red)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wind tunnel/flight testing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high-fidelity CFD validation [5]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Aeroelastic effects conceptual [44]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PV integration losses est. [43]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Mass budget reconciliation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8412480" cy="9144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CONCEPTUAL DESIGN study. Detailed computational modelling, prototype fabrication, and experimental flight testing are recommended for full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Achieved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Comprehensive conceptual design developed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Literature review expanded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Energy system feasibility confirmed (Fuel Cell)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Design parameters aligned with benchmarks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Trade-offs analyzed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Solar-powered HALE UAV technical feasibility confirmed for multi-day endurance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energy storage essential for night operations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Propulsion optimisation reduces power demand significantly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High-AR wings require advanced aeroelastic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(Research)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Detailed CFD and wind tunnel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Composite wing segment testing [44]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mgmt algorithm [39]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(Development)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Scaled demonstrator fabrication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Flight testing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Mission system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Technologies [45]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Morphing wings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Solid-state batteries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Ultra-light flexible solar arrays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Supercapacitor hybrid storage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Goraj et al. (1999). Design concept of a HALE UAV. Aircraft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Goraj, Z. (2004). HALE UAV of a new generation.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Romeo et al. (2004). HELIPLAT: Design &amp; analysis.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Boukoberine et al. (2019). Energy storage for UAVs.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[39] Oettershagen et al. (2017). AtlantikSolar UAV.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[40] Hwang et al. (2016). KARI EAV-3 aerodynamic design.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[42] Dantsker et al. (2020). Propulsion optimisation.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[43] Lopusiewicz &amp; Ksiazek (2024). PV integration.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[44] Murua et al. (2011). Stability of very flexible aircraft.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[45] Liller et al. (2025). Battery-free solar UAV.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Patil | 22BTRAS031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Amalesh Barai (Advisor)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HALE UAV Final Year Project</dc:title>
  <dc:subject>PptxGenJS Presentation</dc:subject>
  <dc:creator>PptxGenJS</dc:creator>
  <cp:lastModifiedBy>PptxGenJS</cp:lastModifiedBy>
  <cp:revision>1</cp:revision>
  <dcterms:created xsi:type="dcterms:W3CDTF">2026-02-19T05:43:44Z</dcterms:created>
  <dcterms:modified xsi:type="dcterms:W3CDTF">2026-02-19T05:43:44Z</dcterms:modified>
</cp:coreProperties>
</file>